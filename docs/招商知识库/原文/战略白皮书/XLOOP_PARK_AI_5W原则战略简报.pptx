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48A3A"/>
                </a:solidFill>
                <a:latin typeface="Arial"/>
                <a:ea typeface="Microsoft YaHei"/>
              </a:rPr>
              <a:t>XLOOP PARK  ·  AI STRATEGIC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  <a:ea typeface="Microsoft YaHei"/>
              </a:rPr>
              <a:t>AI 5W 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F3EEE6"/>
                </a:solidFill>
                <a:latin typeface="Arial"/>
                <a:ea typeface="Microsoft YaHei"/>
              </a:rPr>
              <a:t>如何改写商业街区的经营底层逻辑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48A3A"/>
                </a:solidFill>
                <a:latin typeface="Arial"/>
                <a:ea typeface="Microsoft YaHei"/>
              </a:rPr>
              <a:t>Why · Who · What · When · 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9199"/>
                </a:solidFill>
                <a:latin typeface="Arial"/>
                <a:ea typeface="Microsoft YaHei"/>
              </a:rPr>
              <a:t>基于白皮书 v0.6  ·  不是商业街区做 AI，而是 AI 原生街区做商业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XLOOP PARK  ·  AI 5W 原则  ·  战略认知简报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2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84632"/>
            <a:ext cx="164592" cy="164592"/>
          </a:xfrm>
          <a:prstGeom prst="rect">
            <a:avLst/>
          </a:prstGeom>
          <a:solidFill>
            <a:srgbClr val="D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86E28"/>
                </a:solidFill>
                <a:latin typeface="Arial"/>
                <a:ea typeface="Microsoft YaHei"/>
              </a:rPr>
              <a:t>CORE 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161A"/>
                </a:solidFill>
                <a:latin typeface="Arial"/>
                <a:ea typeface="Microsoft YaHei"/>
              </a:rPr>
              <a:t>真正难的不是选供应商，而是改写五个基本问题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C333A"/>
                </a:solidFill>
                <a:latin typeface="Arial"/>
                <a:ea typeface="Microsoft YaHei"/>
              </a:rPr>
              <a:t>AI 不是给街区加工具，而是改写街区回答 5W 的方式。
回答方式一变，商业模式、组织、投资优先级全部跟着变。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352044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3520440" cy="109728"/>
          </a:xfrm>
          <a:prstGeom prst="rect">
            <a:avLst/>
          </a:prstGeom>
          <a:solidFill>
            <a:srgbClr val="2C3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48A3A"/>
                </a:solidFill>
                <a:latin typeface="Arial"/>
                <a:ea typeface="Microsoft YaHei"/>
              </a:rPr>
              <a:t>不是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161A"/>
                </a:solidFill>
                <a:latin typeface="Arial"/>
                <a:ea typeface="Microsoft YaHei"/>
              </a:rPr>
              <a:t>堆场景清单
买大屏大脑
对标抄作业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2743200"/>
            <a:ext cx="352044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2743200"/>
            <a:ext cx="3520440" cy="109728"/>
          </a:xfrm>
          <a:prstGeom prst="rect">
            <a:avLst/>
          </a:prstGeom>
          <a:solidFill>
            <a:srgbClr val="D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1999" y="30632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48A3A"/>
                </a:solidFill>
                <a:latin typeface="Arial"/>
                <a:ea typeface="Microsoft YaHei"/>
              </a:rPr>
              <a:t>而是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356616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161A"/>
                </a:solidFill>
                <a:latin typeface="Arial"/>
                <a:ea typeface="Microsoft YaHei"/>
              </a:rPr>
              <a:t>重写 Why 使命
重定义 Who 主体
产品化 What 决策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8" y="2743200"/>
            <a:ext cx="352044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8" y="2743200"/>
            <a:ext cx="3520440" cy="109728"/>
          </a:xfrm>
          <a:prstGeom prst="rect">
            <a:avLst/>
          </a:prstGeom>
          <a:solidFill>
            <a:srgbClr val="D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38" y="30632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48A3A"/>
                </a:solidFill>
                <a:latin typeface="Arial"/>
                <a:ea typeface="Microsoft YaHei"/>
              </a:rPr>
              <a:t>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8" y="356616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161A"/>
                </a:solidFill>
                <a:latin typeface="Arial"/>
                <a:ea typeface="Microsoft YaHei"/>
              </a:rPr>
              <a:t>不动产项目
→
可学习的操作系统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XLOOP PARK  ·  AI 5W 原则  ·  战略认知简报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3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84632"/>
            <a:ext cx="164592" cy="164592"/>
          </a:xfrm>
          <a:prstGeom prst="rect">
            <a:avLst/>
          </a:prstGeom>
          <a:solidFill>
            <a:srgbClr val="D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86E28"/>
                </a:solidFill>
                <a:latin typeface="Arial"/>
                <a:ea typeface="Microsoft YaHei"/>
              </a:rPr>
              <a:t>5W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161A"/>
                </a:solidFill>
                <a:latin typeface="Arial"/>
                <a:ea typeface="Microsoft YaHei"/>
              </a:rPr>
              <a:t>五个问题：传统默认答案 vs AI 改写后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11064240" cy="41148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48A3A"/>
                </a:solidFill>
                <a:latin typeface="Arial"/>
                <a:ea typeface="Microsoft YaHei"/>
              </a:rPr>
              <a:t>5W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62763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传统街区默认答案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62763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AI 介入后被改写为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110642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1284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86E28"/>
                </a:solidFill>
                <a:latin typeface="Arial"/>
                <a:ea typeface="Microsoft YaHe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212848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9199"/>
                </a:solidFill>
                <a:latin typeface="Arial"/>
                <a:ea typeface="Microsoft YaHei"/>
              </a:rPr>
              <a:t>收租金、聚人气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1284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161A"/>
                </a:solidFill>
                <a:latin typeface="Arial"/>
                <a:ea typeface="Microsoft YaHei"/>
              </a:rPr>
              <a:t>降低错配成本，提高注意力→交易转化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88920"/>
            <a:ext cx="11064240" cy="731520"/>
          </a:xfrm>
          <a:prstGeom prst="rect">
            <a:avLst/>
          </a:prstGeom>
          <a:solidFill>
            <a:srgbClr val="F3EEE6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99008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86E28"/>
                </a:solidFill>
                <a:latin typeface="Arial"/>
                <a:ea typeface="Microsoft YaHei"/>
              </a:rPr>
              <a:t>Who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990088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9199"/>
                </a:solidFill>
                <a:latin typeface="Arial"/>
                <a:ea typeface="Microsoft YaHei"/>
              </a:rPr>
              <a:t>房东、大牌、路过客流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9008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161A"/>
                </a:solidFill>
                <a:latin typeface="Arial"/>
                <a:ea typeface="Microsoft YaHei"/>
              </a:rPr>
              <a:t>样本型客群 + 商户节点 + 编排者 + 内容产能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66160"/>
            <a:ext cx="110642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673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86E28"/>
                </a:solidFill>
                <a:latin typeface="Arial"/>
                <a:ea typeface="Microsoft YaHei"/>
              </a:rPr>
              <a:t>What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767328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9199"/>
                </a:solidFill>
                <a:latin typeface="Arial"/>
                <a:ea typeface="Microsoft YaHei"/>
              </a:rPr>
              <a:t>铺位、空间、活动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76732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161A"/>
                </a:solidFill>
                <a:latin typeface="Arial"/>
                <a:ea typeface="Microsoft YaHei"/>
              </a:rPr>
              <a:t>匹配 · 感知 · 内容 · 预测 · 归因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43400"/>
            <a:ext cx="11064240" cy="731520"/>
          </a:xfrm>
          <a:prstGeom prst="rect">
            <a:avLst/>
          </a:prstGeom>
          <a:solidFill>
            <a:srgbClr val="F3EEE6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4456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86E28"/>
                </a:solidFill>
                <a:latin typeface="Arial"/>
                <a:ea typeface="Microsoft YaHei"/>
              </a:rPr>
              <a:t>When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544568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9199"/>
                </a:solidFill>
                <a:latin typeface="Arial"/>
                <a:ea typeface="Microsoft YaHei"/>
              </a:rPr>
              <a:t>节假日与经验排期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54456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161A"/>
                </a:solidFill>
                <a:latin typeface="Arial"/>
                <a:ea typeface="Microsoft YaHei"/>
              </a:rPr>
              <a:t>实时 · 节律 · 预测 · 开业窗口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2180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86E28"/>
                </a:solidFill>
                <a:latin typeface="Arial"/>
                <a:ea typeface="Microsoft YaHei"/>
              </a:rPr>
              <a:t>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321808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9199"/>
                </a:solidFill>
                <a:latin typeface="Arial"/>
                <a:ea typeface="Microsoft YaHei"/>
              </a:rPr>
              <a:t>物理铺位与中庭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32180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161A"/>
                </a:solidFill>
                <a:latin typeface="Arial"/>
                <a:ea typeface="Microsoft YaHei"/>
              </a:rPr>
              <a:t>物理场 + 内容场 + 数据场叠合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XLOOP PARK  ·  AI 5W 原则  ·  战略认知简报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4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84632"/>
            <a:ext cx="164592" cy="164592"/>
          </a:xfrm>
          <a:prstGeom prst="rect">
            <a:avLst/>
          </a:prstGeom>
          <a:solidFill>
            <a:srgbClr val="D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86E28"/>
                </a:solidFill>
                <a:latin typeface="Arial"/>
                <a:ea typeface="Microsoft YaHei"/>
              </a:rPr>
              <a:t>CAUSAL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161A"/>
                </a:solidFill>
                <a:latin typeface="Arial"/>
                <a:ea typeface="Microsoft YaHei"/>
              </a:rPr>
              <a:t>5W 不是并列清单，而是一条因果链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011680" cy="164592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D48A3A"/>
                </a:solidFill>
                <a:latin typeface="Arial"/>
                <a:ea typeface="Microsoft YaHe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3EEE6"/>
                </a:solidFill>
                <a:latin typeface="Arial"/>
                <a:ea typeface="Microsoft YaHei"/>
              </a:rPr>
              <a:t>为何降错配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19" y="23317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D48A3A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828800"/>
            <a:ext cx="20116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1488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4161A"/>
                </a:solidFill>
                <a:latin typeface="Arial"/>
                <a:ea typeface="Microsoft YaHei"/>
              </a:rPr>
              <a:t>Who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6974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C333A"/>
                </a:solidFill>
                <a:latin typeface="Arial"/>
                <a:ea typeface="Microsoft YaHei"/>
              </a:rPr>
              <a:t>对谁 / 由谁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23317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D48A3A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828800"/>
            <a:ext cx="20116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1488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4161A"/>
                </a:solidFill>
                <a:latin typeface="Arial"/>
                <a:ea typeface="Microsoft YaHei"/>
              </a:rPr>
              <a:t>What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6974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C333A"/>
                </a:solidFill>
                <a:latin typeface="Arial"/>
                <a:ea typeface="Microsoft YaHei"/>
              </a:rPr>
              <a:t>用什么能力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19" y="23317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D48A3A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1828800"/>
            <a:ext cx="20116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21488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4161A"/>
                </a:solidFill>
                <a:latin typeface="Arial"/>
                <a:ea typeface="Microsoft YaHei"/>
              </a:rPr>
              <a:t>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6974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C333A"/>
                </a:solidFill>
                <a:latin typeface="Arial"/>
                <a:ea typeface="Microsoft YaHei"/>
              </a:rPr>
              <a:t>何时最有杠杆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23317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D48A3A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1828800"/>
            <a:ext cx="20116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1488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4161A"/>
                </a:solidFill>
                <a:latin typeface="Arial"/>
                <a:ea typeface="Microsoft YaHei"/>
              </a:rPr>
              <a:t>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6974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C333A"/>
                </a:solidFill>
                <a:latin typeface="Arial"/>
                <a:ea typeface="Microsoft YaHei"/>
              </a:rPr>
              <a:t>落在哪一界面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3566160" cy="1737360"/>
          </a:xfrm>
          <a:prstGeom prst="rect">
            <a:avLst/>
          </a:prstGeom>
          <a:solidFill>
            <a:srgbClr val="F3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251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86E28"/>
                </a:solidFill>
                <a:latin typeface="Arial"/>
                <a:ea typeface="Microsoft YaHei"/>
              </a:rPr>
              <a:t>缺 Why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7548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4161A"/>
                </a:solidFill>
                <a:latin typeface="Arial"/>
                <a:ea typeface="Microsoft YaHei"/>
              </a:rPr>
              <a:t>What 沦为功能堆砌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79" y="4023360"/>
            <a:ext cx="3566160" cy="1737360"/>
          </a:xfrm>
          <a:prstGeom prst="rect">
            <a:avLst/>
          </a:prstGeom>
          <a:solidFill>
            <a:srgbClr val="F3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1999" y="4251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86E28"/>
                </a:solidFill>
                <a:latin typeface="Arial"/>
                <a:ea typeface="Microsoft YaHei"/>
              </a:rPr>
              <a:t>缺 Who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1999" y="47548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4161A"/>
                </a:solidFill>
                <a:latin typeface="Arial"/>
                <a:ea typeface="Microsoft YaHei"/>
              </a:rPr>
              <a:t>系统没有执行主体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18" y="4023360"/>
            <a:ext cx="3566160" cy="1737360"/>
          </a:xfrm>
          <a:prstGeom prst="rect">
            <a:avLst/>
          </a:prstGeom>
          <a:solidFill>
            <a:srgbClr val="F3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38" y="4251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86E28"/>
                </a:solidFill>
                <a:latin typeface="Arial"/>
                <a:ea typeface="Microsoft YaHei"/>
              </a:rPr>
              <a:t>缺 When / Where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8" y="47548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4161A"/>
                </a:solidFill>
                <a:latin typeface="Arial"/>
                <a:ea typeface="Microsoft YaHei"/>
              </a:rPr>
              <a:t>模型停在报表，调不动现场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XLOOP PARK  ·  AI 5W 原则  ·  战略认知简报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5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84632"/>
            <a:ext cx="164592" cy="164592"/>
          </a:xfrm>
          <a:prstGeom prst="rect">
            <a:avLst/>
          </a:prstGeom>
          <a:solidFill>
            <a:srgbClr val="D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86E28"/>
                </a:solidFill>
                <a:latin typeface="Arial"/>
                <a:ea typeface="Microsoft YaHei"/>
              </a:rPr>
              <a:t>01  ·  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161A"/>
                </a:solidFill>
                <a:latin typeface="Arial"/>
                <a:ea typeface="Microsoft YaHei"/>
              </a:rPr>
              <a:t>从贩卖稀缺位置，到经营稀缺匹配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3949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A9199"/>
                </a:solidFill>
                <a:latin typeface="Arial"/>
                <a:ea typeface="Microsoft YaHei"/>
              </a:rPr>
              <a:t>传统 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4161A"/>
                </a:solidFill>
                <a:latin typeface="Arial"/>
                <a:ea typeface="Microsoft YaHei"/>
              </a:rPr>
              <a:t>控制好地段 → 收人流租金
热闹 = 成功
铺满 = 组合正确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394960" cy="201168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48A3A"/>
                </a:solidFill>
                <a:latin typeface="Arial"/>
                <a:ea typeface="Microsoft YaHei"/>
              </a:rPr>
              <a:t>AI 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  <a:ea typeface="Microsoft YaHei"/>
              </a:rPr>
              <a:t>持续降低系统性错配
提高注意力 → 交易 → 复购概率
错配成本成为可经营变量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2103120" cy="1828800"/>
          </a:xfrm>
          <a:prstGeom prst="rect">
            <a:avLst/>
          </a:prstGeom>
          <a:solidFill>
            <a:srgbClr val="F3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60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86E28"/>
                </a:solidFill>
                <a:latin typeface="Arial"/>
                <a:ea typeface="Microsoft YaHei"/>
              </a:rPr>
              <a:t>人—场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70916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4161A"/>
                </a:solidFill>
                <a:latin typeface="Arial"/>
                <a:ea typeface="Microsoft YaHei"/>
              </a:rPr>
              <a:t>来了逛不对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3931920"/>
            <a:ext cx="2103120" cy="1828800"/>
          </a:xfrm>
          <a:prstGeom prst="rect">
            <a:avLst/>
          </a:prstGeom>
          <a:solidFill>
            <a:srgbClr val="F3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4160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86E28"/>
                </a:solidFill>
                <a:latin typeface="Arial"/>
                <a:ea typeface="Microsoft YaHei"/>
              </a:rPr>
              <a:t>人—货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70916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4161A"/>
                </a:solidFill>
                <a:latin typeface="Arial"/>
                <a:ea typeface="Microsoft YaHei"/>
              </a:rPr>
              <a:t>看见非想要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3931920"/>
            <a:ext cx="2103120" cy="1828800"/>
          </a:xfrm>
          <a:prstGeom prst="rect">
            <a:avLst/>
          </a:prstGeom>
          <a:solidFill>
            <a:srgbClr val="F3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4160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86E28"/>
                </a:solidFill>
                <a:latin typeface="Arial"/>
                <a:ea typeface="Microsoft YaHei"/>
              </a:rPr>
              <a:t>货—场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470916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4161A"/>
                </a:solidFill>
                <a:latin typeface="Arial"/>
                <a:ea typeface="Microsoft YaHei"/>
              </a:rPr>
              <a:t>品牌放错位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3931920"/>
            <a:ext cx="2103120" cy="1828800"/>
          </a:xfrm>
          <a:prstGeom prst="rect">
            <a:avLst/>
          </a:prstGeom>
          <a:solidFill>
            <a:srgbClr val="F3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4160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86E28"/>
                </a:solidFill>
                <a:latin typeface="Arial"/>
                <a:ea typeface="Microsoft YaHei"/>
              </a:rPr>
              <a:t>时—需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70916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4161A"/>
                </a:solidFill>
                <a:latin typeface="Arial"/>
                <a:ea typeface="Microsoft YaHei"/>
              </a:rPr>
              <a:t>潮汐失衡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3931920"/>
            <a:ext cx="2103120" cy="1828800"/>
          </a:xfrm>
          <a:prstGeom prst="rect">
            <a:avLst/>
          </a:prstGeom>
          <a:solidFill>
            <a:srgbClr val="F3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4160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86E28"/>
                </a:solidFill>
                <a:latin typeface="Arial"/>
                <a:ea typeface="Microsoft YaHei"/>
              </a:rPr>
              <a:t>内—外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470916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4161A"/>
                </a:solidFill>
                <a:latin typeface="Arial"/>
                <a:ea typeface="Microsoft YaHei"/>
              </a:rPr>
              <a:t>种草到不了店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XLOOP PARK  ·  AI 5W 原则  ·  战略认知简报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6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84632"/>
            <a:ext cx="164592" cy="164592"/>
          </a:xfrm>
          <a:prstGeom prst="rect">
            <a:avLst/>
          </a:prstGeom>
          <a:solidFill>
            <a:srgbClr val="D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86E28"/>
                </a:solidFill>
                <a:latin typeface="Arial"/>
                <a:ea typeface="Microsoft YaHei"/>
              </a:rPr>
              <a:t>02  ·  WHO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161A"/>
                </a:solidFill>
                <a:latin typeface="Arial"/>
                <a:ea typeface="Microsoft YaHei"/>
              </a:rPr>
              <a:t>谁算数：主体被重新定义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54480"/>
            <a:ext cx="274320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554480"/>
            <a:ext cx="2743200" cy="50292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459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48A3A"/>
                </a:solidFill>
                <a:latin typeface="Arial"/>
                <a:ea typeface="Microsoft YaHei"/>
              </a:rPr>
              <a:t>客群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199"/>
                </a:solidFill>
                <a:latin typeface="Arial"/>
                <a:ea typeface="Microsoft YaHei"/>
              </a:rPr>
              <a:t>过去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060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A9199"/>
                </a:solidFill>
                <a:latin typeface="Arial"/>
                <a:ea typeface="Microsoft YaHei"/>
              </a:rPr>
              <a:t>匿名流量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004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86E28"/>
                </a:solidFill>
                <a:latin typeface="Arial"/>
                <a:ea typeface="Microsoft YaHei"/>
              </a:rPr>
              <a:t>现在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204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61A"/>
                </a:solidFill>
                <a:latin typeface="Arial"/>
                <a:ea typeface="Microsoft YaHei"/>
              </a:rPr>
              <a:t>可学习样本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06240"/>
            <a:ext cx="2377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33A"/>
                </a:solidFill>
                <a:latin typeface="Arial"/>
                <a:ea typeface="Microsoft YaHei"/>
              </a:rPr>
              <a:t>高频师生 = 研发样本库
不是宣传口径里的人流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554480"/>
            <a:ext cx="274320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1554480"/>
            <a:ext cx="2743200" cy="50292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6459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48A3A"/>
                </a:solidFill>
                <a:latin typeface="Arial"/>
                <a:ea typeface="Microsoft YaHei"/>
              </a:rPr>
              <a:t>商户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2860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199"/>
                </a:solidFill>
                <a:latin typeface="Arial"/>
                <a:ea typeface="Microsoft YaHei"/>
              </a:rPr>
              <a:t>过去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6060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A9199"/>
                </a:solidFill>
                <a:latin typeface="Arial"/>
                <a:ea typeface="Microsoft YaHei"/>
              </a:rPr>
              <a:t>交租乙方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2004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86E28"/>
                </a:solidFill>
                <a:latin typeface="Arial"/>
                <a:ea typeface="Microsoft YaHei"/>
              </a:rPr>
              <a:t>现在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5204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61A"/>
                </a:solidFill>
                <a:latin typeface="Arial"/>
                <a:ea typeface="Microsoft YaHei"/>
              </a:rPr>
              <a:t>网络节点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206240"/>
            <a:ext cx="2377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33A"/>
                </a:solidFill>
                <a:latin typeface="Arial"/>
                <a:ea typeface="Microsoft YaHei"/>
              </a:rPr>
              <a:t>必须同时是
数据 / 内容 / 体验节点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554480"/>
            <a:ext cx="274320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1554480"/>
            <a:ext cx="2743200" cy="50292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6459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48A3A"/>
                </a:solidFill>
                <a:latin typeface="Arial"/>
                <a:ea typeface="Microsoft YaHei"/>
              </a:rPr>
              <a:t>运营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2860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199"/>
                </a:solidFill>
                <a:latin typeface="Arial"/>
                <a:ea typeface="Microsoft YaHei"/>
              </a:rPr>
              <a:t>过去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6060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A9199"/>
                </a:solidFill>
                <a:latin typeface="Arial"/>
                <a:ea typeface="Microsoft YaHei"/>
              </a:rPr>
              <a:t>收租与物业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004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86E28"/>
                </a:solidFill>
                <a:latin typeface="Arial"/>
                <a:ea typeface="Microsoft YaHei"/>
              </a:rPr>
              <a:t>现在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5204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61A"/>
                </a:solidFill>
                <a:latin typeface="Arial"/>
                <a:ea typeface="Microsoft YaHei"/>
              </a:rPr>
              <a:t>编排者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206240"/>
            <a:ext cx="2377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33A"/>
                </a:solidFill>
                <a:latin typeface="Arial"/>
                <a:ea typeface="Microsoft YaHei"/>
              </a:rPr>
              <a:t>掌握匹配、触达、
调度、归因规则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9720" y="1554480"/>
            <a:ext cx="274320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89720" y="1554480"/>
            <a:ext cx="2743200" cy="50292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20" y="16459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48A3A"/>
                </a:solidFill>
                <a:latin typeface="Arial"/>
                <a:ea typeface="Microsoft YaHei"/>
              </a:rPr>
              <a:t>MCN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2860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199"/>
                </a:solidFill>
                <a:latin typeface="Arial"/>
                <a:ea typeface="Microsoft YaHei"/>
              </a:rPr>
              <a:t>过去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26060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A9199"/>
                </a:solidFill>
                <a:latin typeface="Arial"/>
                <a:ea typeface="Microsoft YaHei"/>
              </a:rPr>
              <a:t>营销外包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32004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86E28"/>
                </a:solidFill>
                <a:latin typeface="Arial"/>
                <a:ea typeface="Microsoft YaHei"/>
              </a:rPr>
              <a:t>现在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35204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61A"/>
                </a:solidFill>
                <a:latin typeface="Arial"/>
                <a:ea typeface="Microsoft YaHei"/>
              </a:rPr>
              <a:t>生产资料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4206240"/>
            <a:ext cx="2377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33A"/>
                </a:solidFill>
                <a:latin typeface="Arial"/>
                <a:ea typeface="Microsoft YaHei"/>
              </a:rPr>
              <a:t>与铺位平行的
内容产能所有者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XLOOP PARK  ·  AI 5W 原则  ·  战略认知简报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7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84632"/>
            <a:ext cx="164592" cy="164592"/>
          </a:xfrm>
          <a:prstGeom prst="rect">
            <a:avLst/>
          </a:prstGeom>
          <a:solidFill>
            <a:srgbClr val="D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86E28"/>
                </a:solidFill>
                <a:latin typeface="Arial"/>
                <a:ea typeface="Microsoft YaHei"/>
              </a:rPr>
              <a:t>03  ·  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161A"/>
                </a:solidFill>
                <a:latin typeface="Arial"/>
                <a:ea typeface="Microsoft YaHei"/>
              </a:rPr>
              <a:t>产出什么：决策本身成为产品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33A"/>
                </a:solidFill>
                <a:latin typeface="Arial"/>
                <a:ea typeface="Microsoft YaHei"/>
              </a:rPr>
              <a:t>租金仍在，但增量来自可产品化的经营能力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110642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109728" cy="685800"/>
          </a:xfrm>
          <a:prstGeom prst="rect">
            <a:avLst/>
          </a:prstGeom>
          <a:solidFill>
            <a:srgbClr val="D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3055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61A"/>
                </a:solidFill>
                <a:latin typeface="Arial"/>
                <a:ea typeface="Microsoft YaHei"/>
              </a:rPr>
              <a:t>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13055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33A"/>
                </a:solidFill>
                <a:latin typeface="Arial"/>
                <a:ea typeface="Microsoft YaHei"/>
              </a:rPr>
              <a:t>对的人 × 对的供给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305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86E28"/>
                </a:solidFill>
                <a:latin typeface="Arial"/>
                <a:ea typeface="Microsoft YaHei"/>
              </a:rPr>
              <a:t>转化 / 复购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43200"/>
            <a:ext cx="11064240" cy="685800"/>
          </a:xfrm>
          <a:prstGeom prst="rect">
            <a:avLst/>
          </a:prstGeom>
          <a:solidFill>
            <a:srgbClr val="F3EEE6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743200"/>
            <a:ext cx="109728" cy="685800"/>
          </a:xfrm>
          <a:prstGeom prst="rect">
            <a:avLst/>
          </a:prstGeom>
          <a:solidFill>
            <a:srgbClr val="D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0779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61A"/>
                </a:solidFill>
                <a:latin typeface="Arial"/>
                <a:ea typeface="Microsoft YaHei"/>
              </a:rPr>
              <a:t>感知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90779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33A"/>
                </a:solidFill>
                <a:latin typeface="Arial"/>
                <a:ea typeface="Microsoft YaHei"/>
              </a:rPr>
              <a:t>客流 · 能耗 · 情绪可见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90779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86E28"/>
                </a:solidFill>
                <a:latin typeface="Arial"/>
                <a:ea typeface="Microsoft YaHei"/>
              </a:rPr>
              <a:t>调度 / 降本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20440"/>
            <a:ext cx="110642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109728" cy="685800"/>
          </a:xfrm>
          <a:prstGeom prst="rect">
            <a:avLst/>
          </a:prstGeom>
          <a:solidFill>
            <a:srgbClr val="D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68503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61A"/>
                </a:solidFill>
                <a:latin typeface="Arial"/>
                <a:ea typeface="Microsoft YaHei"/>
              </a:rPr>
              <a:t>内容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6850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33A"/>
                </a:solidFill>
                <a:latin typeface="Arial"/>
                <a:ea typeface="Microsoft YaHei"/>
              </a:rPr>
              <a:t>可传播的故事与货盘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68503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86E28"/>
                </a:solidFill>
                <a:latin typeface="Arial"/>
                <a:ea typeface="Microsoft YaHei"/>
              </a:rPr>
              <a:t>到店 / 联单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97680"/>
            <a:ext cx="11064240" cy="685800"/>
          </a:xfrm>
          <a:prstGeom prst="rect">
            <a:avLst/>
          </a:prstGeom>
          <a:solidFill>
            <a:srgbClr val="F3EEE6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297680"/>
            <a:ext cx="109728" cy="685800"/>
          </a:xfrm>
          <a:prstGeom prst="rect">
            <a:avLst/>
          </a:prstGeom>
          <a:solidFill>
            <a:srgbClr val="D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46227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61A"/>
                </a:solidFill>
                <a:latin typeface="Arial"/>
                <a:ea typeface="Microsoft YaHei"/>
              </a:rPr>
              <a:t>预测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4622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33A"/>
                </a:solidFill>
                <a:latin typeface="Arial"/>
                <a:ea typeface="Microsoft YaHei"/>
              </a:rPr>
              <a:t>需求 · 峰值 · 存活提前量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4622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86E28"/>
                </a:solidFill>
                <a:latin typeface="Arial"/>
                <a:ea typeface="Microsoft YaHei"/>
              </a:rPr>
              <a:t>减少救火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074920"/>
            <a:ext cx="110642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074920"/>
            <a:ext cx="109728" cy="685800"/>
          </a:xfrm>
          <a:prstGeom prst="rect">
            <a:avLst/>
          </a:prstGeom>
          <a:solidFill>
            <a:srgbClr val="D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3951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61A"/>
                </a:solidFill>
                <a:latin typeface="Arial"/>
                <a:ea typeface="Microsoft YaHei"/>
              </a:rPr>
              <a:t>归因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23951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33A"/>
                </a:solidFill>
                <a:latin typeface="Arial"/>
                <a:ea typeface="Microsoft YaHei"/>
              </a:rPr>
              <a:t>说清哪次动作真赚了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23951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86E28"/>
                </a:solidFill>
                <a:latin typeface="Arial"/>
                <a:ea typeface="Microsoft YaHei"/>
              </a:rPr>
              <a:t>预算可迭代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XLOOP PARK  ·  AI 5W 原则  ·  战略认知简报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8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84632"/>
            <a:ext cx="164592" cy="164592"/>
          </a:xfrm>
          <a:prstGeom prst="rect">
            <a:avLst/>
          </a:prstGeom>
          <a:solidFill>
            <a:srgbClr val="D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86E28"/>
                </a:solidFill>
                <a:latin typeface="Arial"/>
                <a:ea typeface="Microsoft YaHei"/>
              </a:rPr>
              <a:t>04  · 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161A"/>
                </a:solidFill>
                <a:latin typeface="Arial"/>
                <a:ea typeface="Microsoft YaHei"/>
              </a:rPr>
              <a:t>时间是权力：从日历治理到可干预变量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274320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B86E28"/>
                </a:solidFill>
                <a:latin typeface="Arial"/>
                <a:ea typeface="Microsoft YaHei"/>
              </a:rPr>
              <a:t>实时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9199"/>
                </a:solidFill>
                <a:latin typeface="Arial"/>
                <a:ea typeface="Microsoft YaHei"/>
              </a:rPr>
              <a:t>秒—分钟级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2286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33A"/>
                </a:solidFill>
                <a:latin typeface="Arial"/>
                <a:ea typeface="Microsoft YaHei"/>
              </a:rPr>
              <a:t>排队 · 热力 · 安保
空调 · LED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645920"/>
            <a:ext cx="274320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9202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B86E28"/>
                </a:solidFill>
                <a:latin typeface="Arial"/>
                <a:ea typeface="Microsoft YaHei"/>
              </a:rPr>
              <a:t>节律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4231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9199"/>
                </a:solidFill>
                <a:latin typeface="Arial"/>
                <a:ea typeface="Microsoft YaHei"/>
              </a:rPr>
              <a:t>日 / 周 / 学期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017520"/>
            <a:ext cx="2286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33A"/>
                </a:solidFill>
                <a:latin typeface="Arial"/>
                <a:ea typeface="Microsoft YaHei"/>
              </a:rPr>
              <a:t>反潮汐：师生空窗
用酒店与内容补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645920"/>
            <a:ext cx="274320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9202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B86E28"/>
                </a:solidFill>
                <a:latin typeface="Arial"/>
                <a:ea typeface="Microsoft YaHei"/>
              </a:rPr>
              <a:t>预测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4231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9199"/>
                </a:solidFill>
                <a:latin typeface="Arial"/>
                <a:ea typeface="Microsoft YaHei"/>
              </a:rPr>
              <a:t>提前准备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017520"/>
            <a:ext cx="2286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33A"/>
                </a:solidFill>
                <a:latin typeface="Arial"/>
                <a:ea typeface="Microsoft YaHei"/>
              </a:rPr>
              <a:t>活动备货 · 摊位
定价 · 排班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645920"/>
            <a:ext cx="2743200" cy="329184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19202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D48A3A"/>
                </a:solidFill>
                <a:latin typeface="Arial"/>
                <a:ea typeface="Microsoft YaHei"/>
              </a:rPr>
              <a:t>窗口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4231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不可逆时点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3017520"/>
            <a:ext cx="2286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3EEE6"/>
                </a:solidFill>
                <a:latin typeface="Arial"/>
                <a:ea typeface="Microsoft YaHei"/>
              </a:rPr>
              <a:t>开业前预埋
首年心智 · 合同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solidFill>
            <a:srgbClr val="F3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4406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61A"/>
                </a:solidFill>
                <a:latin typeface="Arial"/>
                <a:ea typeface="Microsoft YaHei"/>
              </a:rPr>
              <a:t>最高杠杆的 When：开业前约 9 个月。错过这个窗口，以后每一分钱都在付「改造税」与「组织重训税」。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XLOOP PARK  ·  AI 5W 原则  ·  战略认知简报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9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84632"/>
            <a:ext cx="164592" cy="164592"/>
          </a:xfrm>
          <a:prstGeom prst="rect">
            <a:avLst/>
          </a:prstGeom>
          <a:solidFill>
            <a:srgbClr val="D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86E28"/>
                </a:solidFill>
                <a:latin typeface="Arial"/>
                <a:ea typeface="Microsoft YaHei"/>
              </a:rPr>
              <a:t>05  ·  WHERE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161A"/>
                </a:solidFill>
                <a:latin typeface="Arial"/>
                <a:ea typeface="Microsoft YaHei"/>
              </a:rPr>
              <a:t>空间从容器，变成可调度的三场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36576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3657600" cy="64008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D48A3A"/>
                </a:solidFill>
                <a:latin typeface="Arial"/>
                <a:ea typeface="Microsoft YaHei"/>
              </a:rPr>
              <a:t>物理场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4161A"/>
                </a:solidFill>
                <a:latin typeface="Arial"/>
                <a:ea typeface="Microsoft YaHei"/>
              </a:rPr>
              <a:t>动线 · 铺位 · 广场
停车 · 夜市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33A"/>
                </a:solidFill>
                <a:latin typeface="Arial"/>
                <a:ea typeface="Microsoft YaHei"/>
              </a:rPr>
              <a:t>可走、可停、可交易的实体界面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600200"/>
            <a:ext cx="36576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600200"/>
            <a:ext cx="3657600" cy="64008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73736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D48A3A"/>
                </a:solidFill>
                <a:latin typeface="Arial"/>
                <a:ea typeface="Microsoft YaHei"/>
              </a:rPr>
              <a:t>内容场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6032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4161A"/>
                </a:solidFill>
                <a:latin typeface="Arial"/>
                <a:ea typeface="Microsoft YaHei"/>
              </a:rPr>
              <a:t>直播间 · LED
短视频场景 · 数字人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84048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33A"/>
                </a:solidFill>
                <a:latin typeface="Arial"/>
                <a:ea typeface="Microsoft YaHei"/>
              </a:rPr>
              <a:t>决策前移发生的注意力界面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600200"/>
            <a:ext cx="36576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600200"/>
            <a:ext cx="3657600" cy="64008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73736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D48A3A"/>
                </a:solidFill>
                <a:latin typeface="Arial"/>
                <a:ea typeface="Microsoft YaHei"/>
              </a:rPr>
              <a:t>数据场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56032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4161A"/>
                </a:solidFill>
                <a:latin typeface="Arial"/>
                <a:ea typeface="Microsoft YaHei"/>
              </a:rPr>
              <a:t>热力 · 画像 · 交易
能耗 · 工单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84048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33A"/>
                </a:solidFill>
                <a:latin typeface="Arial"/>
                <a:ea typeface="Microsoft YaHei"/>
              </a:rPr>
              <a:t>让另两场可计算、可回流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1206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33A"/>
                </a:solidFill>
                <a:latin typeface="Arial"/>
                <a:ea typeface="Microsoft YaHei"/>
              </a:rPr>
              <a:t>分裂即失败：物理场热闹但内容场在别处带货；数据场有热力但调不了铺；内容场爆了但核销接不住。
三场必须被同一套编排逻辑看见——夜经济主场（广场+夜市+LED）应与一楼同等系统优先级。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XLOOP PARK  ·  AI 5W 原则  ·  战略认知简报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10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84632"/>
            <a:ext cx="164592" cy="164592"/>
          </a:xfrm>
          <a:prstGeom prst="rect">
            <a:avLst/>
          </a:prstGeom>
          <a:solidFill>
            <a:srgbClr val="D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86E28"/>
                </a:solidFill>
                <a:latin typeface="Arial"/>
                <a:ea typeface="Microsoft YaHei"/>
              </a:rPr>
              <a:t>STRUCTURAL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161A"/>
                </a:solidFill>
                <a:latin typeface="Arial"/>
                <a:ea typeface="Microsoft YaHei"/>
              </a:rPr>
              <a:t>5W 同向改写后的六种结构性质变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65760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86E28"/>
                </a:solidFill>
                <a:latin typeface="Arial"/>
                <a:ea typeface="Microsoft YaHei"/>
              </a:rPr>
              <a:t>商业模式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61A"/>
                </a:solidFill>
                <a:latin typeface="Arial"/>
                <a:ea typeface="Microsoft YaHei"/>
              </a:rPr>
              <a:t>租售空间 → 经营匹配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65760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86E28"/>
                </a:solidFill>
                <a:latin typeface="Arial"/>
                <a:ea typeface="Microsoft YaHei"/>
              </a:rPr>
              <a:t>竞争壁垒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61A"/>
                </a:solidFill>
                <a:latin typeface="Arial"/>
                <a:ea typeface="Microsoft YaHei"/>
              </a:rPr>
              <a:t>地段 → 数据飞轮 × 内容产能 × 预埋时点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365760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659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86E28"/>
                </a:solidFill>
                <a:latin typeface="Arial"/>
                <a:ea typeface="Microsoft YaHei"/>
              </a:rPr>
              <a:t>组织权力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6888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61A"/>
                </a:solidFill>
                <a:latin typeface="Arial"/>
                <a:ea typeface="Microsoft YaHei"/>
              </a:rPr>
              <a:t>经验权威 → 编排权威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40"/>
            <a:ext cx="365760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86E28"/>
                </a:solidFill>
                <a:latin typeface="Arial"/>
                <a:ea typeface="Microsoft YaHei"/>
              </a:rPr>
              <a:t>消费旅程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61A"/>
                </a:solidFill>
                <a:latin typeface="Arial"/>
                <a:ea typeface="Microsoft YaHei"/>
              </a:rPr>
              <a:t>到店才开始 → 来之前已被计算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49040"/>
            <a:ext cx="365760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0690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86E28"/>
                </a:solidFill>
                <a:latin typeface="Arial"/>
                <a:ea typeface="Microsoft YaHei"/>
              </a:rPr>
              <a:t>空间经济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5720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61A"/>
                </a:solidFill>
                <a:latin typeface="Arial"/>
                <a:ea typeface="Microsoft YaHei"/>
              </a:rPr>
              <a:t>固定租金梯度 → 动态热力价值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3749040"/>
            <a:ext cx="365760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40690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86E28"/>
                </a:solidFill>
                <a:latin typeface="Arial"/>
                <a:ea typeface="Microsoft YaHei"/>
              </a:rPr>
              <a:t>风险形态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5720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61A"/>
                </a:solidFill>
                <a:latin typeface="Arial"/>
                <a:ea typeface="Microsoft YaHei"/>
              </a:rPr>
              <a:t>租不租得出 → 学不学得会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XLOOP PARK  ·  AI 5W 原则  ·  战略认知简报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11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84632"/>
            <a:ext cx="164592" cy="164592"/>
          </a:xfrm>
          <a:prstGeom prst="rect">
            <a:avLst/>
          </a:prstGeom>
          <a:solidFill>
            <a:srgbClr val="D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86E28"/>
                </a:solidFill>
                <a:latin typeface="Arial"/>
                <a:ea typeface="Microsoft YaHei"/>
              </a:rPr>
              <a:t>XLOOP ENDOWMENT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161A"/>
                </a:solidFill>
                <a:latin typeface="Arial"/>
                <a:ea typeface="Microsoft YaHei"/>
              </a:rPr>
              <a:t>不是学谁：认清自己在五个 W 上的禀赋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1064240" cy="41148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8191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48A3A"/>
                </a:solidFill>
                <a:latin typeface="Arial"/>
                <a:ea typeface="Microsoft YaHei"/>
              </a:rPr>
              <a:t>5W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819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禀赋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581912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战略含义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110642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671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86E28"/>
                </a:solidFill>
                <a:latin typeface="Arial"/>
                <a:ea typeface="Microsoft YaHe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167128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161A"/>
                </a:solidFill>
                <a:latin typeface="Arial"/>
                <a:ea typeface="Microsoft YaHei"/>
              </a:rPr>
              <a:t>产住商娱教一体，错配类型齐全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167128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C333A"/>
                </a:solidFill>
                <a:latin typeface="Arial"/>
                <a:ea typeface="Microsoft YaHei"/>
              </a:rPr>
              <a:t>使命=降错配的原生街区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11064240" cy="731520"/>
          </a:xfrm>
          <a:prstGeom prst="rect">
            <a:avLst/>
          </a:prstGeom>
          <a:solidFill>
            <a:srgbClr val="F3EEE6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4436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86E28"/>
                </a:solidFill>
                <a:latin typeface="Arial"/>
                <a:ea typeface="Microsoft YaHei"/>
              </a:rPr>
              <a:t>Who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944368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161A"/>
                </a:solidFill>
                <a:latin typeface="Arial"/>
                <a:ea typeface="Microsoft YaHei"/>
              </a:rPr>
              <a:t>师生样本 + 居民 + 酒店 + 驻场 MCN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944368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C333A"/>
                </a:solidFill>
                <a:latin typeface="Arial"/>
                <a:ea typeface="Microsoft YaHei"/>
              </a:rPr>
              <a:t>主体操作系统先天完整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110642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2160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86E28"/>
                </a:solidFill>
                <a:latin typeface="Arial"/>
                <a:ea typeface="Microsoft YaHei"/>
              </a:rPr>
              <a:t>What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721608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161A"/>
                </a:solidFill>
                <a:latin typeface="Arial"/>
                <a:ea typeface="Microsoft YaHei"/>
              </a:rPr>
              <a:t>Xmedia 基因：内容/AIGC 非外购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721608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C333A"/>
                </a:solidFill>
                <a:latin typeface="Arial"/>
                <a:ea typeface="Microsoft YaHei"/>
              </a:rPr>
              <a:t>内容可做成中台级产品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97680"/>
            <a:ext cx="11064240" cy="731520"/>
          </a:xfrm>
          <a:prstGeom prst="rect">
            <a:avLst/>
          </a:prstGeom>
          <a:solidFill>
            <a:srgbClr val="F3EEE6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9884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86E28"/>
                </a:solidFill>
                <a:latin typeface="Arial"/>
                <a:ea typeface="Microsoft YaHei"/>
              </a:rPr>
              <a:t>When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498848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161A"/>
                </a:solidFill>
                <a:latin typeface="Arial"/>
                <a:ea typeface="Microsoft YaHei"/>
              </a:rPr>
              <a:t>距开业约 9 个月预埋窗口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498848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C333A"/>
                </a:solidFill>
                <a:latin typeface="Arial"/>
                <a:ea typeface="Microsoft YaHei"/>
              </a:rPr>
              <a:t>最高杠杆在现在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074920"/>
            <a:ext cx="110642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27608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86E28"/>
                </a:solidFill>
                <a:latin typeface="Arial"/>
                <a:ea typeface="Microsoft YaHei"/>
              </a:rPr>
              <a:t>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276088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161A"/>
                </a:solidFill>
                <a:latin typeface="Arial"/>
                <a:ea typeface="Microsoft YaHei"/>
              </a:rPr>
              <a:t>MCN 楼层 + 夜经济主场已成型 7–8 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5276088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C333A"/>
                </a:solidFill>
                <a:latin typeface="Arial"/>
                <a:ea typeface="Microsoft YaHei"/>
              </a:rPr>
              <a:t>三场叠合物理前提部分具备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XLOOP PARK  ·  AI 5W 原则  ·  战略认知简报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12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84632"/>
            <a:ext cx="164592" cy="164592"/>
          </a:xfrm>
          <a:prstGeom prst="rect">
            <a:avLst/>
          </a:prstGeom>
          <a:solidFill>
            <a:srgbClr val="D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86E28"/>
                </a:solidFill>
                <a:latin typeface="Arial"/>
                <a:ea typeface="Microsoft YaHei"/>
              </a:rPr>
              <a:t>PRIORITY BY 5W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61A"/>
                </a:solidFill>
                <a:latin typeface="Arial"/>
                <a:ea typeface="Microsoft YaHei"/>
              </a:rPr>
              <a:t>用 5W 因果重排优先级（原理序）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48A3A"/>
                </a:solidFill>
                <a:latin typeface="Arial"/>
                <a:ea typeface="Microsoft YaHei"/>
              </a:rP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6733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Why+Who 基建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673352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Arial"/>
                <a:ea typeface="Microsoft YaHei"/>
              </a:rPr>
              <a:t>身份 / 会员 / POS / 商户数据义务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40280"/>
            <a:ext cx="11064240" cy="64008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0487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48A3A"/>
                </a:solidFill>
                <a:latin typeface="Arial"/>
                <a:ea typeface="Microsoft YaHei"/>
              </a:rPr>
              <a:t>P0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4048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What 现金牛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404872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Arial"/>
                <a:ea typeface="Microsoft YaHei"/>
              </a:rPr>
              <a:t>内容核销 · 能耗 · 客流感知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71800"/>
            <a:ext cx="11064240" cy="64008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3639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48A3A"/>
                </a:solidFill>
                <a:latin typeface="Arial"/>
                <a:ea typeface="Microsoft YaHei"/>
              </a:rPr>
              <a:t>P0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1363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When 窗口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136392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Arial"/>
                <a:ea typeface="Microsoft YaHei"/>
              </a:rPr>
              <a:t>招商 AI · MCN 预招商 · 点位预埋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03320"/>
            <a:ext cx="11064240" cy="64008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6791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48A3A"/>
                </a:solidFill>
                <a:latin typeface="Arial"/>
                <a:ea typeface="Microsoft YaHei"/>
              </a:rPr>
              <a:t>P0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86791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Where 主场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867912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Arial"/>
                <a:ea typeface="Microsoft YaHei"/>
              </a:rPr>
              <a:t>夜经济指挥链路（广场/摊位/LED/安保）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11064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9943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86E28"/>
                </a:solidFill>
                <a:latin typeface="Arial"/>
                <a:ea typeface="Microsoft YaHei"/>
              </a:rPr>
              <a:t>P1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59943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61A"/>
                </a:solidFill>
                <a:latin typeface="Arial"/>
                <a:ea typeface="Microsoft YaHei"/>
              </a:rPr>
              <a:t>What 体验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599432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33A"/>
                </a:solidFill>
                <a:latin typeface="Arial"/>
                <a:ea typeface="Microsoft YaHei"/>
              </a:rPr>
              <a:t>停车 / 点餐 / 导览（抬客单与停留）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66360"/>
            <a:ext cx="11064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33095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86E28"/>
                </a:solidFill>
                <a:latin typeface="Arial"/>
                <a:ea typeface="Microsoft YaHei"/>
              </a:rPr>
              <a:t>P2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3309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61A"/>
                </a:solidFill>
                <a:latin typeface="Arial"/>
                <a:ea typeface="Microsoft YaHei"/>
              </a:rPr>
              <a:t>What 大脑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5330952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33A"/>
                </a:solidFill>
                <a:latin typeface="Arial"/>
                <a:ea typeface="Microsoft YaHei"/>
              </a:rPr>
              <a:t>沙盘与复杂决策（需长数据后置）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XLOOP PARK  ·  AI 5W 原则  ·  战略认知简报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A9199"/>
                </a:solidFill>
                <a:latin typeface="Arial"/>
                <a:ea typeface="Microsoft YaHei"/>
              </a:rPr>
              <a:t>13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84632"/>
            <a:ext cx="164592" cy="164592"/>
          </a:xfrm>
          <a:prstGeom prst="rect">
            <a:avLst/>
          </a:prstGeom>
          <a:solidFill>
            <a:srgbClr val="D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86E28"/>
                </a:solidFill>
                <a:latin typeface="Arial"/>
                <a:ea typeface="Microsoft YaHei"/>
              </a:rPr>
              <a:t>BOARD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161A"/>
                </a:solidFill>
                <a:latin typeface="Arial"/>
                <a:ea typeface="Microsoft YaHei"/>
              </a:rPr>
              <a:t>董事会三问（5W 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110642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1280160" cy="118872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74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D48A3A"/>
                </a:solidFill>
                <a:latin typeface="Arial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3EEE6"/>
                </a:solidFill>
                <a:latin typeface="Arial"/>
                <a:ea typeface="Microsoft YaHei"/>
              </a:rPr>
              <a:t>Why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0116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61A"/>
                </a:solidFill>
                <a:latin typeface="Arial"/>
                <a:ea typeface="Microsoft YaHei"/>
              </a:rPr>
              <a:t>是否同意：AI 的第一性原理是降错配，而不是上功能？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110642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1280160" cy="118872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461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D48A3A"/>
                </a:solidFill>
                <a:latin typeface="Arial"/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3EEE6"/>
                </a:solidFill>
                <a:latin typeface="Arial"/>
                <a:ea typeface="Microsoft YaHei"/>
              </a:rPr>
              <a:t>Who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3832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61A"/>
                </a:solidFill>
                <a:latin typeface="Arial"/>
                <a:ea typeface="Microsoft YaHei"/>
              </a:rPr>
              <a:t>是否同意：商户与 MCN 必须被定义为节点/产能，而非纯承租方？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89120"/>
            <a:ext cx="110642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389120"/>
            <a:ext cx="1280160" cy="118872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177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D48A3A"/>
                </a:solidFill>
                <a:latin typeface="Arial"/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2920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3EEE6"/>
                </a:solidFill>
                <a:latin typeface="Arial"/>
                <a:ea typeface="Microsoft YaHei"/>
              </a:rPr>
              <a:t>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7548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61A"/>
                </a:solidFill>
                <a:latin typeface="Arial"/>
                <a:ea typeface="Microsoft YaHei"/>
              </a:rPr>
              <a:t>是否同意：九个月窗口上的预埋，优先级高于开业后的「好看大脑」？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48A3A"/>
                </a:solidFill>
                <a:latin typeface="Arial"/>
                <a:ea typeface="Microsoft YaHe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五个 W 同向改写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EEE6"/>
                </a:solidFill>
                <a:latin typeface="Arial"/>
                <a:ea typeface="Microsoft YaHei"/>
              </a:rPr>
              <a:t>街区就从「不动产项目」
跃迁为「可学习的商业操作系统」。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A9199"/>
                </a:solidFill>
                <a:latin typeface="Arial"/>
                <a:ea typeface="Microsoft YaHei"/>
              </a:rPr>
              <a:t>XLOOP 现在要做的，不是寻找可模仿的对象，
而是在开业前把这五个 W 一次性写进基因——把基因变成肌肉。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48A3A"/>
                </a:solidFill>
                <a:latin typeface="Arial"/>
                <a:ea typeface="Microsoft YaHei"/>
              </a:rPr>
              <a:t>Live · Loop · Life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